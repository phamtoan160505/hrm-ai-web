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463040"/>
            <a:ext cx="963137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B82F6"/>
                </a:solidFill>
                <a:latin typeface="Arial"/>
              </a:defRPr>
            </a:pPr>
            <a:r>
              <a:t>HRM AI</a:t>
            </a:r>
          </a:p>
          <a:p>
            <a:pPr>
              <a:spcBef>
                <a:spcPts val="8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Hệ thống Tuyển dụng &amp; Quản trị Nhân sự Tích hợp AI</a:t>
            </a:r>
          </a:p>
          <a:p>
            <a:pPr>
              <a:spcBef>
                <a:spcPts val="800"/>
              </a:spcBef>
              <a:defRPr sz="1600">
                <a:solidFill>
                  <a:srgbClr val="10B981"/>
                </a:solidFill>
                <a:latin typeface="Arial"/>
              </a:defRPr>
            </a:pPr>
            <a:r>
              <a:t>Từ nhu cầu tuyển dụng đến ngày đầu tiên của nhân viên — Theo dõi thông minh qua Telegram</a:t>
            </a:r>
          </a:p>
          <a:p>
            <a:pPr>
              <a:spcBef>
                <a:spcPts val="2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Quy trình khép kín: Nhu cầu → Đăng tin → AI Sàng lọc CV → Phỏng vấn → Offer → Pre-boarding → Xác nhận Đi làm → Telegram Management</a:t>
            </a:r>
          </a:p>
          <a:p>
            <a:pPr>
              <a:spcBef>
                <a:spcPts val="1600"/>
              </a:spcBef>
              <a:defRPr sz="1200">
                <a:solidFill>
                  <a:srgbClr val="8B5CF6"/>
                </a:solidFill>
                <a:latin typeface="Arial"/>
              </a:defRPr>
            </a:pPr>
            <a:r>
              <a:t>Đơn vị: HRM AI Project Team | Công nghệ: React 19, Spring Boot, Google Gemini AI, Telegram Bot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Slide 2 — Bài toán thực tế &amp; Giải pháp HRM AI</a:t>
            </a:r>
          </a:p>
          <a:p>
            <a:pPr>
              <a:spcBef>
                <a:spcPts val="400"/>
              </a:spcBef>
              <a:defRPr sz="1400">
                <a:solidFill>
                  <a:srgbClr val="3B82F6"/>
                </a:solidFill>
                <a:latin typeface="Arial"/>
              </a:defRPr>
            </a:pPr>
            <a:r>
              <a:t>Chuyển đổi quy trình thủ công đứt gãy thành Nền tảng hợp nhất Nhanh - Đúng - Minh bạch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Arial"/>
              </a:defRPr>
            </a:pPr>
            <a:r>
              <a:t>Thách thức Quy trình Truyền thống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Nhập liệu thủ công: </a:t>
            </a:r>
            <a:r>
              <a:rPr>
                <a:solidFill>
                  <a:srgbClr val="F8FAFC"/>
                </a:solidFill>
              </a:rPr>
              <a:t>CV gửi qua nhiều kênh, HR mất nhiều giờ đọc và nhập dữ liệu.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Tiêu chí thiếu nhất quán: </a:t>
            </a:r>
            <a:r>
              <a:rPr>
                <a:solidFill>
                  <a:srgbClr val="F8FAFC"/>
                </a:solidFill>
              </a:rPr>
              <a:t>Đánh giá ứng viên không đồng bộ giữa HR và bộ phận chuyên môn.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Tuyển vượt chỉ tiêu: </a:t>
            </a:r>
            <a:r>
              <a:rPr>
                <a:solidFill>
                  <a:srgbClr val="F8FAFC"/>
                </a:solidFill>
              </a:rPr>
              <a:t>Thiếu cơ chế Seat Ledger giữ suất real-time khi phát hành Offer.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Đứt gãy dữ liệu: </a:t>
            </a:r>
            <a:r>
              <a:rPr>
                <a:solidFill>
                  <a:srgbClr val="F8FAFC"/>
                </a:solidFill>
              </a:rPr>
              <a:t>Hồ sơ ứng viên trúng tuyển không tự động nối với hồ sơ Nhân viên.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Lãnh đạo thiếu công cụ: </a:t>
            </a:r>
            <a:r>
              <a:rPr>
                <a:solidFill>
                  <a:srgbClr val="F8FAFC"/>
                </a:solidFill>
              </a:rPr>
              <a:t>Phụ thuộc báo cáo chậm, khó tra cứu &amp; duyệt nhanh khi di chuyển.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9164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t>Giải pháp HRM AI Nổi bật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Nhanh hơn: </a:t>
            </a:r>
            <a:r>
              <a:rPr>
                <a:solidFill>
                  <a:srgbClr val="F8FAFC"/>
                </a:solidFill>
              </a:rPr>
              <a:t>Gemini AI tự động cấu trúc hóa CV &amp; tính Fit Score theo bằng chứng trong vài giây.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Đúng hơn: </a:t>
            </a:r>
            <a:r>
              <a:rPr>
                <a:solidFill>
                  <a:srgbClr val="F8FAFC"/>
                </a:solidFill>
              </a:rPr>
              <a:t>Kiểm soát qua State Machine nghiêm ngặt, tự động giữ suất tuyển (Seat Ledger).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Minh bạch hơn: </a:t>
            </a:r>
            <a:r>
              <a:rPr>
                <a:solidFill>
                  <a:srgbClr val="F8FAFC"/>
                </a:solidFill>
              </a:rPr>
              <a:t>Audit Log đầy đủ, cờ cảnh báo sao chép JD, người có thẩm quyền quyết định cuối.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Nối liền mạch: </a:t>
            </a:r>
            <a:r>
              <a:rPr>
                <a:solidFill>
                  <a:srgbClr val="F8FAFC"/>
                </a:solidFill>
              </a:rPr>
              <a:t>Tự động chuyển Offer Accepted → Hồ sơ Nhân viên (Pre-boarding) → Kích hoạt tài khoản.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Lãnh đạo đồng hành: </a:t>
            </a:r>
            <a:r>
              <a:rPr>
                <a:solidFill>
                  <a:srgbClr val="F8FAFC"/>
                </a:solidFill>
              </a:rPr>
              <a:t>Telegram Bot tra cứu dữ liệu real-time và phê duyệt tức thì.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Slide 3 — Luồng Tuyển dụng &amp; Tiếp nhận Nhân sự Tổng thể</a:t>
            </a:r>
          </a:p>
          <a:p>
            <a:pPr>
              <a:spcBef>
                <a:spcPts val="400"/>
              </a:spcBef>
              <a:defRPr sz="1400">
                <a:solidFill>
                  <a:srgbClr val="3B82F6"/>
                </a:solidFill>
                <a:latin typeface="Arial"/>
              </a:defRPr>
            </a:pPr>
            <a:r>
              <a:t>Quy trình 12 bước xuyên suốt từ Nhu cầu tuyển dụng đến Ngày đi làm đầu tiên của Nhân viên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3756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3B82F6"/>
                </a:solidFill>
                <a:latin typeface="Arial"/>
              </a:defRPr>
            </a:pPr>
            <a:r>
              <a:t>1. Tạo nhu cầu tuyển dụng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Trưởng phòng lập Job Requisition (DRAFT)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3756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3B82F6"/>
                </a:solidFill>
                <a:latin typeface="Arial"/>
              </a:defRPr>
            </a:pPr>
            <a:r>
              <a:t>2. Phê duyệt Requisition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CEO/Quản lý duyệt → Cấp Hiring Seats (AVAILABLE)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3756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3B82F6"/>
                </a:solidFill>
                <a:latin typeface="Arial"/>
              </a:defRPr>
            </a:pPr>
            <a:r>
              <a:t>3. Đăng tin tuyển dụng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HR tạo Posting, khóa cặp Version Tiêu chí &amp; AI Profile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333756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3B82F6"/>
                </a:solidFill>
                <a:latin typeface="Arial"/>
              </a:defRPr>
            </a:pPr>
            <a:r>
              <a:t>4. Ứng viên nộp CV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Nộp trực tuyến qua Public Form (Không thu CCCD)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651760"/>
            <a:ext cx="333756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3B82F6"/>
                </a:solidFill>
                <a:latin typeface="Arial"/>
              </a:defRPr>
            </a:pPr>
            <a:r>
              <a:t>5. AI Phân tích CV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PDFBox extract + Gemini AI chấm Fit Score theo bằng chứng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651760"/>
            <a:ext cx="333756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3B82F6"/>
                </a:solidFill>
                <a:latin typeface="Arial"/>
              </a:defRPr>
            </a:pPr>
            <a:r>
              <a:t>6. HR &amp; Chuyên môn duyệt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Sàng lọc CV qua 2 vòng (PENDING_HR → PENDING_TECH)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79"/>
            <a:ext cx="333756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3B82F6"/>
                </a:solidFill>
                <a:latin typeface="Arial"/>
              </a:defRPr>
            </a:pPr>
            <a:r>
              <a:t>7. Phỏng vấn 2 Vòng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Vòng 1 Chuyên môn &amp; Vòng 2 Quản lý/HR đánh giá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840479"/>
            <a:ext cx="333756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3B82F6"/>
                </a:solidFill>
                <a:latin typeface="Arial"/>
              </a:defRPr>
            </a:pPr>
            <a:r>
              <a:t>8. Duyệt &amp; Gửi Offer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Lập Offer, duyệt ngân sách, gửi ứng viên &amp; GIỮ SUẤT (RESERVED)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840479"/>
            <a:ext cx="333756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9. Ứng viên Chấp nhận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Ứng viên click OFFER_ACCEPTED, kích hoạt bridge event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29200"/>
            <a:ext cx="333756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10. Pre-boarding &amp; Checklist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Tạo Employee (PRE_BOARDING), checklist CCCD, account DISABLED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5029200"/>
            <a:ext cx="333756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11. HR Xác nhận Đi làm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Ngày đầu đi làm: HR bấm xác nhận JOINED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5029200"/>
            <a:ext cx="333756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12. Kích hoạt Nhân viên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Employee → EMPLOYED, Seat → JOINED, Account → ACTIVE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Slide 4 — Khởi tạo Nhu cầu &amp; Đăng tin Tuyển dụng</a:t>
            </a:r>
          </a:p>
          <a:p>
            <a:pPr>
              <a:spcBef>
                <a:spcPts val="400"/>
              </a:spcBef>
              <a:defRPr sz="1400">
                <a:solidFill>
                  <a:srgbClr val="3B82F6"/>
                </a:solidFill>
                <a:latin typeface="Arial"/>
              </a:defRPr>
            </a:pPr>
            <a:r>
              <a:t>Quản lý Requisition, Sổ kế toán Suất tuyển (Seat Ledger) và Khóa tiêu chí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3B82F6"/>
                </a:solidFill>
                <a:latin typeface="Arial"/>
              </a:defRPr>
            </a:pPr>
            <a:r>
              <a:t>1. Yêu cầu Tuyển dụng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Khởi tạo Requisition: </a:t>
            </a:r>
            <a:r>
              <a:rPr>
                <a:solidFill>
                  <a:srgbClr val="F8FAFC"/>
                </a:solidFill>
              </a:rPr>
              <a:t>Trưởng phòng lập yêu cầu theo vị trí, phòng ban, headcount, khung lương.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Duyệt đa cấp: </a:t>
            </a:r>
            <a:r>
              <a:rPr>
                <a:solidFill>
                  <a:srgbClr val="F8FAFC"/>
                </a:solidFill>
              </a:rPr>
              <a:t>Phê duyệt theo ma trận phân quyền backend (DRAFT → APPROVED).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Ràng buộc ngân sách: </a:t>
            </a:r>
            <a:r>
              <a:rPr>
                <a:solidFill>
                  <a:srgbClr val="F8FAFC"/>
                </a:solidFill>
              </a:rPr>
              <a:t>Ngăn chặn tuyển dụng ngoài kế hoạch hoặc vượt định mức lương.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9164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t>2. Quản lý Suất tuyển (Seat Ledger)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Cấp Suất tự động: </a:t>
            </a:r>
            <a:r>
              <a:rPr>
                <a:solidFill>
                  <a:srgbClr val="F8FAFC"/>
                </a:solidFill>
              </a:rPr>
              <a:t>Khi Requisition APPROVED, tự động sinh các bản ghi hiring_seats ở AVAILABLE.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Ràng buộc nghiêm ngặt: </a:t>
            </a:r>
            <a:r>
              <a:rPr>
                <a:solidFill>
                  <a:srgbClr val="F8FAFC"/>
                </a:solidFill>
              </a:rPr>
              <a:t>Mọi đợt gửi Offer đều phải gắn với 1 Suất tuyển cụ thể.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Chống overbook: </a:t>
            </a:r>
            <a:r>
              <a:rPr>
                <a:solidFill>
                  <a:srgbClr val="F8FAFC"/>
                </a:solidFill>
              </a:rPr>
              <a:t>Không bao giờ xảy ra tình trạng ứng viên chấp nhận offer nhưng báo hết chỉ tiêu.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9164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8B5CF6"/>
                </a:solidFill>
                <a:latin typeface="Arial"/>
              </a:defRPr>
            </a:pPr>
            <a:r>
              <a:t>3. Đóng băng Tiêu chí AI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Posting Open: </a:t>
            </a:r>
            <a:r>
              <a:rPr>
                <a:solidFill>
                  <a:srgbClr val="F8FAFC"/>
                </a:solidFill>
              </a:rPr>
              <a:t>HR tạo Posting &amp; phải xác nhận bộ tiêu chí chấm và AI Scoring Profile.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Version bất biến: </a:t>
            </a:r>
            <a:r>
              <a:rPr>
                <a:solidFill>
                  <a:srgbClr val="F8FAFC"/>
                </a:solidFill>
              </a:rPr>
              <a:t>Khóa cặp (criteria_version, scoring_profile_version) bất biến khi đăng tin.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Audit re-run: </a:t>
            </a:r>
            <a:r>
              <a:rPr>
                <a:solidFill>
                  <a:srgbClr val="F8FAFC"/>
                </a:solidFill>
              </a:rPr>
              <a:t>Khi sửa tiêu chí, chỉ chạy lại AI cho các hồ sơ đang ở giai đoạn đánh giá.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Slide 5 — AI Phân tích, Sàng lọc &amp; Chấm CV theo Bằng chứng</a:t>
            </a:r>
          </a:p>
          <a:p>
            <a:pPr>
              <a:spcBef>
                <a:spcPts val="400"/>
              </a:spcBef>
              <a:defRPr sz="1400">
                <a:solidFill>
                  <a:srgbClr val="3B82F6"/>
                </a:solidFill>
                <a:latin typeface="Arial"/>
              </a:defRPr>
            </a:pPr>
            <a:r>
              <a:t>Bảo mật tải lên, Trích xuất PDFBox, Gemini AI Fit Score &amp; Cảnh báo bất thường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3B82F6"/>
                </a:solidFill>
                <a:latin typeface="Arial"/>
              </a:defRPr>
            </a:pPr>
            <a:r>
              <a:t>Quy trình Xử lý CV &amp; AI Gemini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Nộp Form trực tuyến: </a:t>
            </a:r>
            <a:r>
              <a:rPr>
                <a:solidFill>
                  <a:srgbClr val="F8FAFC"/>
                </a:solidFill>
              </a:rPr>
              <a:t>Ứng viên điền thông tin &amp; nộp CV (PDF/DOCX). Tuyệt đối KHÔNG thu thập CCCD.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Kiểm tra An toàn File: </a:t>
            </a:r>
            <a:r>
              <a:rPr>
                <a:solidFill>
                  <a:srgbClr val="F8FAFC"/>
                </a:solidFill>
              </a:rPr>
              <a:t>Xác minh mime-type, dung lượng, số trang, chặn virus/macro và file mã hóa.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PDFBox Text Extraction: </a:t>
            </a:r>
            <a:r>
              <a:rPr>
                <a:solidFill>
                  <a:srgbClr val="F8FAFC"/>
                </a:solidFill>
              </a:rPr>
              <a:t>Trích xuất toàn bộ văn bản thô từ tệp PDF CV chuẩn xác.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Gemini AI Parsing: </a:t>
            </a:r>
            <a:r>
              <a:rPr>
                <a:solidFill>
                  <a:srgbClr val="F8FAFC"/>
                </a:solidFill>
              </a:rPr>
              <a:t>Phân tích cấu trúc: Học vấn, Kinh nghiệm, Kỹ năng &amp; Thành tựu thực tế.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9164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Arial"/>
              </a:defRPr>
            </a:pPr>
            <a:r>
              <a:t>Fit Score theo Bằng chứng &amp; Safety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Evidence-Based Scoring: </a:t>
            </a:r>
            <a:r>
              <a:rPr>
                <a:solidFill>
                  <a:srgbClr val="F8FAFC"/>
                </a:solidFill>
              </a:rPr>
              <a:t>Chấm theo BẰNG CHỨNG thực tế thay vì từ khóa suông. Phân biệt Khai báo vs Thực chứng.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AI Fraud Flag: </a:t>
            </a:r>
            <a:r>
              <a:rPr>
                <a:solidFill>
                  <a:srgbClr val="F8FAFC"/>
                </a:solidFill>
              </a:rPr>
              <a:t>Phát hiện &amp; cảnh báo ứng viên sao chép nguyên văn mô tả công việc (JD Mirroring).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Interview Questions: </a:t>
            </a:r>
            <a:r>
              <a:rPr>
                <a:solidFill>
                  <a:srgbClr val="F8FAFC"/>
                </a:solidFill>
              </a:rPr>
              <a:t>AI tự động sinh danh sách câu hỏi phỏng vấn xoáy sâu vào các điểm cần xác minh.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Nguyên tắc bất biến: </a:t>
            </a:r>
            <a:r>
              <a:rPr>
                <a:solidFill>
                  <a:srgbClr val="F8FAFC"/>
                </a:solidFill>
              </a:rPr>
              <a:t>AI chỉ gợi ý và sắp xếp danh sách. HR &amp; Chuyên môn luôn giữ quyền quyết định!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Slide 6 — Phỏng vấn có kiểm soát &amp; Phê duyệt Offer an toàn</a:t>
            </a:r>
          </a:p>
          <a:p>
            <a:pPr>
              <a:spcBef>
                <a:spcPts val="400"/>
              </a:spcBef>
              <a:defRPr sz="1400">
                <a:solidFill>
                  <a:srgbClr val="3B82F6"/>
                </a:solidFill>
                <a:latin typeface="Arial"/>
              </a:defRPr>
            </a:pPr>
            <a:r>
              <a:t>Quy trình phỏng vấn 2 vòng, Duyệt Offer nội bộ và Cơ chế Giữ suất tuyển (Seat Reservation)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3B82F6"/>
                </a:solidFill>
                <a:latin typeface="Arial"/>
              </a:defRPr>
            </a:pPr>
            <a:r>
              <a:t>Quy trình Phỏng vấn 2 Vòng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Duyệt CV 2 cấp: </a:t>
            </a:r>
            <a:r>
              <a:rPr>
                <a:solidFill>
                  <a:srgbClr val="F8FAFC"/>
                </a:solidFill>
              </a:rPr>
              <a:t>HR duyệt CV cơ bản (PENDING_HR_CV_REVIEW) → Phòng chuyên môn duyệt (PENDING_TECH_CV_REVIEW).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Phỏng vấn Vòng 1: </a:t>
            </a:r>
            <a:r>
              <a:rPr>
                <a:solidFill>
                  <a:srgbClr val="F8FAFC"/>
                </a:solidFill>
              </a:rPr>
              <a:t>Đánh giá năng lực chuyên môn thực hành &amp; giải quyết bài toán.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Phỏng vấn Vòng 2: </a:t>
            </a:r>
            <a:r>
              <a:rPr>
                <a:solidFill>
                  <a:srgbClr val="F8FAFC"/>
                </a:solidFill>
              </a:rPr>
              <a:t>Đánh giá sự phù hợp văn hóa &amp; định hướng phát triển từ Quản lý/HR.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Hỗ trợ Revert: </a:t>
            </a:r>
            <a:r>
              <a:rPr>
                <a:solidFill>
                  <a:srgbClr val="F8FAFC"/>
                </a:solidFill>
              </a:rPr>
              <a:t>Cho phép trả hồ sơ về bước trước có lý do kèm theo nếu cần đánh giá lại.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9164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t>Tạo &amp; Phê duyệt Offer An toàn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Tách biệt Offer &amp; Dispatch: </a:t>
            </a:r>
            <a:r>
              <a:rPr>
                <a:solidFill>
                  <a:srgbClr val="F8FAFC"/>
                </a:solidFill>
              </a:rPr>
              <a:t>Tách điều khoản Offer (bất biến) và Lần gửi Dispatch (token, deadline).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Phê duyệt Nội bộ: </a:t>
            </a:r>
            <a:r>
              <a:rPr>
                <a:solidFill>
                  <a:srgbClr val="F8FAFC"/>
                </a:solidFill>
              </a:rPr>
              <a:t>Duyệt theo chính sách ngân sách Requisition. Cảnh báo cờ vượt khung lương.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Giữ Suất tuyển (Seat Reserved): </a:t>
            </a:r>
            <a:r>
              <a:rPr>
                <a:solidFill>
                  <a:srgbClr val="F8FAFC"/>
                </a:solidFill>
              </a:rPr>
              <a:t>Nối từ OFFER_SENT: Suất tuyển chuyển từ AVAILABLE → RESERVED.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Link Phản hồi Bảo mật: </a:t>
            </a:r>
            <a:r>
              <a:rPr>
                <a:solidFill>
                  <a:srgbClr val="F8FAFC"/>
                </a:solidFill>
              </a:rPr>
              <a:t>Ứng viên nhận link bảo mật có token phản hồi (Accept / Decline / Negotiate).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Slide 7 — Từ Offer Chấp nhận đến Nhân viên Chính thức</a:t>
            </a:r>
          </a:p>
          <a:p>
            <a:pPr>
              <a:spcBef>
                <a:spcPts val="400"/>
              </a:spcBef>
              <a:defRPr sz="1400">
                <a:solidFill>
                  <a:srgbClr val="3B82F6"/>
                </a:solidFill>
                <a:latin typeface="Arial"/>
              </a:defRPr>
            </a:pPr>
            <a:r>
              <a:t>Cầu nối Tuyển dụng - Nhân sự (Idempotent Bridge), Pre-boarding, Cấp tài khoản và JOINED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8B5CF6"/>
                </a:solidFill>
                <a:latin typeface="Arial"/>
              </a:defRPr>
            </a:pPr>
            <a:r>
              <a:t>Cầu nối Idempotent &amp; Pre-boarding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Event OFFER_ACCEPTED: </a:t>
            </a:r>
            <a:r>
              <a:rPr>
                <a:solidFill>
                  <a:srgbClr val="F8FAFC"/>
                </a:solidFill>
              </a:rPr>
              <a:t>Ứng viên bấm chấp nhận offer → Phát event Outbox với conversion_key chống trùng.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Tạo Person &amp; Employee: </a:t>
            </a:r>
            <a:r>
              <a:rPr>
                <a:solidFill>
                  <a:srgbClr val="F8FAFC"/>
                </a:solidFill>
              </a:rPr>
              <a:t>Khởi tạo Person (PROVISIONAL) &amp; Employee ở trạng thái PRE_BOARDING.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Checklist &amp; Hồ sơ: </a:t>
            </a:r>
            <a:r>
              <a:rPr>
                <a:solidFill>
                  <a:srgbClr val="F8FAFC"/>
                </a:solidFill>
              </a:rPr>
              <a:t>Tự động sinh Pre-boarding Checklist: Thu thập CCCD, Bằng cấp, Ngân hàng.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Hợp đồng &amp; Lương ban đầu: </a:t>
            </a:r>
            <a:r>
              <a:rPr>
                <a:solidFill>
                  <a:srgbClr val="F8FAFC"/>
                </a:solidFill>
              </a:rPr>
              <a:t>Tạo employment_record &amp; compensation_record ở trạng thái SCHEDULED.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9164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t>Tài khoản DISABLED &amp; Xác nhận JOINED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Tài khoản An toàn: </a:t>
            </a:r>
            <a:r>
              <a:rPr>
                <a:solidFill>
                  <a:srgbClr val="F8FAFC"/>
                </a:solidFill>
              </a:rPr>
              <a:t>Gửi yêu cầu tạo tài khoản hệ thống. Tạo trước ngày đi làm ở trạng thái DISABLED.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Xác nhận Đi làm (JOINED): </a:t>
            </a:r>
            <a:r>
              <a:rPr>
                <a:solidFill>
                  <a:srgbClr val="F8FAFC"/>
                </a:solidFill>
              </a:rPr>
              <a:t>Vào ngày nhận việc, HR bấm 'Xác nhận đã đi làm' trên hệ thống.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Kích hoạt Đồng bộ: </a:t>
            </a:r>
            <a:r>
              <a:rPr>
                <a:solidFill>
                  <a:srgbClr val="F8FAFC"/>
                </a:solidFill>
              </a:rPr>
              <a:t>Employee → EMPLOYED, Hiring Seat → JOINED, Account → ACTIVE.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Hủy nhận việc: </a:t>
            </a:r>
            <a:r>
              <a:rPr>
                <a:solidFill>
                  <a:srgbClr val="F8FAFC"/>
                </a:solidFill>
              </a:rPr>
              <a:t>Nếu ứng viên không đến → ONBOARD_CANCELLED, hủy tài khoản &amp; nhả lại Suất tuyển.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Slide 8 — Telegram HRM AI Bot: Điều hành &amp; Phê duyệt Tức thì</a:t>
            </a:r>
          </a:p>
          <a:p>
            <a:pPr>
              <a:spcBef>
                <a:spcPts val="400"/>
              </a:spcBef>
              <a:defRPr sz="1400">
                <a:solidFill>
                  <a:srgbClr val="3B82F6"/>
                </a:solidFill>
                <a:latin typeface="Arial"/>
              </a:defRPr>
            </a:pPr>
            <a:r>
              <a:t>Trợ lý thông minh dành cho CEO &amp; Giám đốc — Tra cứu dữ liệu real-time và Phê duyệt nhanh 24/7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3B82F6"/>
                </a:solidFill>
                <a:latin typeface="Arial"/>
              </a:defRPr>
            </a:pPr>
            <a:r>
              <a:t>Bộ Lệnh Tra cứu &amp; Duyệt nhanh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/dashboard: </a:t>
            </a:r>
            <a:r>
              <a:rPr>
                <a:solidFill>
                  <a:srgbClr val="F8FAFC"/>
                </a:solidFill>
              </a:rPr>
              <a:t>Xem tổng quan chỉ số nhân sự toàn công ty real-time.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/nhanvien &amp; /tuyendung: </a:t>
            </a:r>
            <a:r>
              <a:rPr>
                <a:solidFill>
                  <a:srgbClr val="F8FAFC"/>
                </a:solidFill>
              </a:rPr>
              <a:t>Thống kê quy mô nhân sự, phòng ban &amp; đợt tuyển dụng.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/chamcong &amp; /luong: </a:t>
            </a:r>
            <a:r>
              <a:rPr>
                <a:solidFill>
                  <a:srgbClr val="F8FAFC"/>
                </a:solidFill>
              </a:rPr>
              <a:t>Kiểm tra tình hình đi làm trong ngày &amp; tổng chi phí lương.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/request, /duyet, /tuchoi: </a:t>
            </a:r>
            <a:r>
              <a:rPr>
                <a:solidFill>
                  <a:srgbClr val="F8FAFC"/>
                </a:solidFill>
              </a:rPr>
              <a:t>Duyệt hoặc từ chối yêu cầu tuyển dụng, offer theo ID tức thì.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9164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t>Hỏi đáp Tiếng Việt &amp; Keyword Fallback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Truy vấn Tự nhiên: </a:t>
            </a:r>
            <a:r>
              <a:rPr>
                <a:solidFill>
                  <a:srgbClr val="F8FAFC"/>
                </a:solidFill>
              </a:rPr>
              <a:t>Hỏi câu hỏi tiếng Việt: 'Hiện công ty có bao nhiêu nhân viên?', 'Hôm nay ai đi muộn?'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Gemini Intent Recognition: </a:t>
            </a:r>
            <a:r>
              <a:rPr>
                <a:solidFill>
                  <a:srgbClr val="F8FAFC"/>
                </a:solidFill>
              </a:rPr>
              <a:t>Gemini AI phân tích ý định câu hỏi → gọi API HRM lấy dữ liệu thực.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Cơ chế Fallback An toàn: </a:t>
            </a:r>
            <a:r>
              <a:rPr>
                <a:solidFill>
                  <a:srgbClr val="F8FAFC"/>
                </a:solidFill>
              </a:rPr>
              <a:t>Nếu kết nối AI sự cố, Bot tự chuyển sang nhận diện Keyword phục vụ liên tục.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Bảo mật Phân quyền: </a:t>
            </a:r>
            <a:r>
              <a:rPr>
                <a:solidFill>
                  <a:srgbClr val="F8FAFC"/>
                </a:solidFill>
              </a:rPr>
              <a:t>Bot xác thực theo Chat ID và Số điện thoại chỉ dành cho Quản lý được cấp quyền.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Slide 9 — Kiến trúc Công nghệ &amp; Cấu hình Động (No-Hardcode)</a:t>
            </a:r>
          </a:p>
          <a:p>
            <a:pPr>
              <a:spcBef>
                <a:spcPts val="400"/>
              </a:spcBef>
              <a:defRPr sz="1400">
                <a:solidFill>
                  <a:srgbClr val="3B82F6"/>
                </a:solidFill>
                <a:latin typeface="Arial"/>
              </a:defRPr>
            </a:pPr>
            <a:r>
              <a:t>Hệ thống chuẩn Enterprise: React 19, Spring Boot, MySQL Flyway, Outbox Pattern &amp; Dynamic Config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3B82F6"/>
                </a:solidFill>
                <a:latin typeface="Arial"/>
              </a:defRPr>
            </a:pPr>
            <a:r>
              <a:t>Kiến trúc Multi-Tier Modern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Frontend Modern: </a:t>
            </a:r>
            <a:r>
              <a:rPr>
                <a:solidFill>
                  <a:srgbClr val="F8FAFC"/>
                </a:solidFill>
              </a:rPr>
              <a:t>React 19 + Vite + Tailwind CSS + Recharts + WebSocket (STOMP) real-time notification.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Backend Enterprise: </a:t>
            </a:r>
            <a:r>
              <a:rPr>
                <a:solidFill>
                  <a:srgbClr val="F8FAFC"/>
                </a:solidFill>
              </a:rPr>
              <a:t>Java 17 + Spring Boot + Spring Security (JWT) + Multi-step Approval Engine.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Data &amp; Event Storage: </a:t>
            </a:r>
            <a:r>
              <a:rPr>
                <a:solidFill>
                  <a:srgbClr val="F8FAFC"/>
                </a:solidFill>
              </a:rPr>
              <a:t>MySQL + Flyway DB Migration + Outbox Event Pattern có retry tự động.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AI &amp; File Engine: </a:t>
            </a:r>
            <a:r>
              <a:rPr>
                <a:solidFill>
                  <a:srgbClr val="F8FAFC"/>
                </a:solidFill>
              </a:rPr>
              <a:t>Google Gemini API + Apache PDFBox xử lý trích xuất văn bản CV.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9164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8B5CF6"/>
                </a:solidFill>
                <a:latin typeface="Arial"/>
              </a:defRPr>
            </a:pPr>
            <a:r>
              <a:t>Nguyên tắc 'Không Hardcode' (No-Hardcode)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Database-Driven Config: </a:t>
            </a:r>
            <a:r>
              <a:rPr>
                <a:solidFill>
                  <a:srgbClr val="F8FAFC"/>
                </a:solidFill>
              </a:rPr>
              <a:t>Toàn bộ tham số nghiệp vụ nằm trong system_configurations &amp; scoring_parameters.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Thay đổi tức thì: </a:t>
            </a:r>
            <a:r>
              <a:rPr>
                <a:solidFill>
                  <a:srgbClr val="F8FAFC"/>
                </a:solidFill>
              </a:rPr>
              <a:t>HR Head/Admin sửa hệ số điểm AI, SLA, dung lượng file trên UI → Hệ thống đổi ngay không cần redeploy.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Version bất biến: </a:t>
            </a:r>
            <a:r>
              <a:rPr>
                <a:solidFill>
                  <a:srgbClr val="F8FAFC"/>
                </a:solidFill>
              </a:rPr>
              <a:t>Profile chấm điểm AI được đánh version bất biến, đảm bảo tính nhất quán audit.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Bảo mật &amp; Phân quyền: </a:t>
            </a:r>
            <a:r>
              <a:rPr>
                <a:solidFill>
                  <a:srgbClr val="F8FAFC"/>
                </a:solidFill>
              </a:rPr>
              <a:t>Phân quyền chi tiết (RBAC), Audit log append-only cho mọi thao tác chuyển trạng thái.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Slide 10 — Giá trị Doanh nghiệp &amp; Kịch bản Demo 3-5 Phút</a:t>
            </a:r>
          </a:p>
          <a:p>
            <a:pPr>
              <a:spcBef>
                <a:spcPts val="400"/>
              </a:spcBef>
              <a:defRPr sz="1400">
                <a:solidFill>
                  <a:srgbClr val="3B82F6"/>
                </a:solidFill>
                <a:latin typeface="Arial"/>
              </a:defRPr>
            </a:pPr>
            <a:r>
              <a:t>Tối ưu vận hành nhân sự toàn diện và Kịch bản trình diễn trực quan tính năng sản phẩm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t>Giá trị mang lại cho Doanh nghiệp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Cho HR: </a:t>
            </a:r>
            <a:r>
              <a:rPr>
                <a:solidFill>
                  <a:srgbClr val="F8FAFC"/>
                </a:solidFill>
              </a:rPr>
              <a:t>Tự động hóa 80% thao tác đọc/nhập CV, loại bỏ bỏ sót hồ sơ, quản lý luồng tập trung.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Cho Quản lý: </a:t>
            </a:r>
            <a:r>
              <a:rPr>
                <a:solidFill>
                  <a:srgbClr val="F8FAFC"/>
                </a:solidFill>
              </a:rPr>
              <a:t>Đánh giá ứng viên theo tiêu chí đồng nhất, nắm chính xác tiến độ từng hồ sơ.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Cho Lãnh đạo: </a:t>
            </a:r>
            <a:r>
              <a:rPr>
                <a:solidFill>
                  <a:srgbClr val="F8FAFC"/>
                </a:solidFill>
              </a:rPr>
              <a:t>Kiểm soát ngân sách &amp; chỉ tiêu (Seat Ledger), tra cứu &amp; phê duyệt 24/7 qua Telegram.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Toàn vẹn Dữ liệu: </a:t>
            </a:r>
            <a:r>
              <a:rPr>
                <a:solidFill>
                  <a:srgbClr val="F8FAFC"/>
                </a:solidFill>
              </a:rPr>
              <a:t>Nối liền mạch Tuyển dụng → Nhân viên, lưu vết Lịch sử (Audit Log) đầy đủ.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9164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Arial"/>
              </a:defRPr>
            </a:pPr>
            <a:r>
              <a:t>Kịch bản Demo Thực tế (3 - 5 Phút)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B1. Đăng tin &amp; CV List: </a:t>
            </a:r>
            <a:r>
              <a:rPr>
                <a:solidFill>
                  <a:srgbClr val="F8FAFC"/>
                </a:solidFill>
              </a:rPr>
              <a:t>Mở Tin tuyển dụng đang OPEN &amp; danh sách ứng viên nộp CV.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B2. AI Fit Score Detail: </a:t>
            </a:r>
            <a:r>
              <a:rPr>
                <a:solidFill>
                  <a:srgbClr val="F8FAFC"/>
                </a:solidFill>
              </a:rPr>
              <a:t>Xem Fit Score (chấm bằng chứng), Cảnh báo Fraud &amp; Đề xuất câu hỏi phỏng vấn.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B3. Offer &amp; Seat Reserve: </a:t>
            </a:r>
            <a:r>
              <a:rPr>
                <a:solidFill>
                  <a:srgbClr val="F8FAFC"/>
                </a:solidFill>
              </a:rPr>
              <a:t>Chuyển phỏng vấn → Duyệt Offer → Suất tuyển chuyển RESERVED.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B4. Accept &amp; Joined Flow: </a:t>
            </a:r>
            <a:r>
              <a:rPr>
                <a:solidFill>
                  <a:srgbClr val="F8FAFC"/>
                </a:solidFill>
              </a:rPr>
              <a:t>Ứng viên click Accept → Hồ sơ vào Pre-boarding → HR bấm JOINED → Account ACTIVE.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B5. Telegram Live Query: </a:t>
            </a:r>
            <a:r>
              <a:rPr>
                <a:solidFill>
                  <a:srgbClr val="F8FAFC"/>
                </a:solidFill>
              </a:rPr>
              <a:t>Mở Telegram hỏi 'Đang tuyển bao nhiêu vị trí?' &amp; gõ /dashboard kết thúc.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