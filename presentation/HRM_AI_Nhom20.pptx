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1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Arial"/>
              </a:defRPr>
            </a:pPr>
            <a:r>
              <a:t>HRM AI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Hệ thống Tuyển dụng &amp; Quản trị Nhân sự Tích hợp AI</a:t>
            </a:r>
          </a:p>
          <a:p>
            <a:pPr algn="ctr">
              <a:spcBef>
                <a:spcPts val="1200"/>
              </a:spcBef>
              <a:defRPr sz="1600">
                <a:solidFill>
                  <a:srgbClr val="10B981"/>
                </a:solidFill>
                <a:latin typeface="Arial"/>
              </a:defRPr>
            </a:pPr>
            <a:r>
              <a:t>Từ nhu cầu tuyển dụng đến ngày đầu tiên của nhân viên — Theo dõi thông minh qua Telegram</a:t>
            </a:r>
          </a:p>
          <a:p>
            <a:pPr algn="ctr">
              <a:spcBef>
                <a:spcPts val="2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Quy trình khép kín: Khởi tạo Nhu cầu → Đăng tin → AI Sàng lọc CV → Phỏng vấn → Offer &amp; Suất tuyển → Chuẩn bị Tiếp nhận → Xác nhận Đi làm → Điều hành Telegram</a:t>
            </a:r>
          </a:p>
          <a:p>
            <a:pPr algn="ctr">
              <a:spcBef>
                <a:spcPts val="1800"/>
              </a:spcBef>
              <a:defRPr sz="1200">
                <a:solidFill>
                  <a:srgbClr val="8B5CF6"/>
                </a:solidFill>
                <a:latin typeface="Arial"/>
              </a:defRPr>
            </a:pPr>
            <a:r>
              <a:t>Đơn vị: Nhóm phát triển HRM AI | Công nghệ: React 19, Spring Boot, Google Gemini AI, Telegram 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Bài toán thực tế &amp; Giải pháp HRM AI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Chuyển đổi quy trình thủ công đứt gãy thành Nền tảng hợp nhất Nhanh - Đúng - Minh bạch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Thách thức Quy trình Truyền thống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Nhập liệu thủ công: </a:t>
            </a:r>
            <a:r>
              <a:rPr>
                <a:solidFill>
                  <a:srgbClr val="F8FAFC"/>
                </a:solidFill>
              </a:rPr>
              <a:t>Hồ sơ nộp qua nhiều kênh, nhân sự tốn nhiều giờ đọc và nhập liệu thủ công.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Tiêu chí thiếu nhất quán: </a:t>
            </a:r>
            <a:r>
              <a:rPr>
                <a:solidFill>
                  <a:srgbClr val="F8FAFC"/>
                </a:solidFill>
              </a:rPr>
              <a:t>Đánh giá ứng viên không đồng bộ giữa bộ phận Nhân sự và Chuyên môn.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Tuyển vượt chỉ tiêu: </a:t>
            </a:r>
            <a:r>
              <a:rPr>
                <a:solidFill>
                  <a:srgbClr val="F8FAFC"/>
                </a:solidFill>
              </a:rPr>
              <a:t>Thiếu sổ quản lý suất tuyển thời gian thực khi phát hành Offer.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Đứt gãy dữ liệu: </a:t>
            </a:r>
            <a:r>
              <a:rPr>
                <a:solidFill>
                  <a:srgbClr val="F8FAFC"/>
                </a:solidFill>
              </a:rPr>
              <a:t>Hồ sơ ứng viên trúng tuyển không tự động nối liền với hồ sơ Nhân viên.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Lãnh đạo thiếu công cụ: </a:t>
            </a:r>
            <a:r>
              <a:rPr>
                <a:solidFill>
                  <a:srgbClr val="F8FAFC"/>
                </a:solidFill>
              </a:rPr>
              <a:t>Phụ thuộc báo cáo chậm, khó tra cứu &amp; duyệt nhanh khi di chuyển.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Giải pháp HRM AI Nổi bật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Nhanh hơn: </a:t>
            </a:r>
            <a:r>
              <a:rPr>
                <a:solidFill>
                  <a:srgbClr val="F8FAFC"/>
                </a:solidFill>
              </a:rPr>
              <a:t>AI Gemini tự động phân tích CV &amp; tính Điểm phù hợp theo bằng chứng trong vài giây.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Đúng hơn: </a:t>
            </a:r>
            <a:r>
              <a:rPr>
                <a:solidFill>
                  <a:srgbClr val="F8FAFC"/>
                </a:solidFill>
              </a:rPr>
              <a:t>Kiểm soát qua luồng quy trình nghiêm ngặt, tự động giữ suất tuyển (Sổ suất tuyển).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Minh bạch hơn: </a:t>
            </a:r>
            <a:r>
              <a:rPr>
                <a:solidFill>
                  <a:srgbClr val="F8FAFC"/>
                </a:solidFill>
              </a:rPr>
              <a:t>Nhật ký kiểm toán đầy đủ, cảnh báo sao chép mô tả công việc, người quyết định cuối.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Nối liền mạch: </a:t>
            </a:r>
            <a:r>
              <a:rPr>
                <a:solidFill>
                  <a:srgbClr val="F8FAFC"/>
                </a:solidFill>
              </a:rPr>
              <a:t>Tự động chuyển từ Chấp nhận Offer → Chuẩn bị tiếp nhận → Kích hoạt tài khoản.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Lãnh đạo đồng hành: </a:t>
            </a:r>
            <a:r>
              <a:rPr>
                <a:solidFill>
                  <a:srgbClr val="F8FAFC"/>
                </a:solidFill>
              </a:rPr>
              <a:t>Telegram Bot tra cứu dữ liệu thời gian thực và phê duyệt tức thì.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Luồng Tuyển dụng &amp; Tiếp nhận Nhân sự Tổng thể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Quy trình 12 bước xuyên suốt từ Nhu cầu tuyển dụng đến Ngày đi làm đầu tiên của Nhân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1. Tạo nhu cầu tuyển dụng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Trưởng phòng lập Yêu cầu tuyển dụng (Bản nháp)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2. Phê duyệt Nhu cầu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Lãnh đạo duyệt → Cấp suất tuyển sẵn có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3. Đăng tin tuyển dụng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Tạo Tin tuyển dụng, khóa phiên bản Tiêu chí &amp; Cấu hình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4. Ứng viên nộp CV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Nộp trực tuyến qua Biểu mẫu công khai (Không thu CCCD)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5. AI Phân tích CV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Trích xuất PDF + AI Gemini chấm Điểm phù hợp bằng chứng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6. Duyệt CV 2 Cấp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Nhân sự duyệt sơ bộ → Phòng chuyên môn duyệt chuyên sâu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79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7. Phỏng vấn 2 Vòng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Vòng 1 Kỹ thuật &amp; Vòng 2 Quản lý/Nhân sự đánh giá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79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8. Duyệt &amp; Gửi Offer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Lập Offer, duyệt ngân sách, gửi ứng viên &amp; GIỮ SUẤT TUYỂN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840479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9. Ứng viên Chấp nhận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Ứng viên đồng ý Offer → Tự động kích hoạt luồng tiếp nhận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10. Chuẩn bị Tiếp nhận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Khởi tạo hồ sơ nhân viên, checklist giấy tờ &amp; tài khoản Chưa kích hoạt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02920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11. Xác nhận Đi làm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Ngày đầu đi làm: Nhân sự bấm 'Xác nhận đã đi làm'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02920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12. Kích hoạt Nhân viên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Hồ sơ chuyển Chính thức, Suất tuyển hoàn tất, Tài khoản Kích hoạt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Khởi tạo Nhu cầu &amp; Đăng tin Tuyển dụng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Quản lý Yêu cầu tuyển dụng, Sổ quản lý Suất tuyển và Khóa tiêu chí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1. Yêu cầu Tuyển dụng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Khởi tạo yêu cầu: </a:t>
            </a:r>
            <a:r>
              <a:rPr>
                <a:solidFill>
                  <a:srgbClr val="F8FAFC"/>
                </a:solidFill>
              </a:rPr>
              <a:t>Trưởng phòng lập yêu cầu theo vị trí, phòng ban, số lượng, khung lương.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Duyệt đa cấp: </a:t>
            </a:r>
            <a:r>
              <a:rPr>
                <a:solidFill>
                  <a:srgbClr val="F8FAFC"/>
                </a:solidFill>
              </a:rPr>
              <a:t>Phê duyệt theo ma trận phân quyền hệ thống (Bản nháp → Đã duyệt).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Ràng buộc ngân sách: </a:t>
            </a:r>
            <a:r>
              <a:rPr>
                <a:solidFill>
                  <a:srgbClr val="F8FAFC"/>
                </a:solidFill>
              </a:rPr>
              <a:t>Ngăn chặn tuyển ngoài kế hoạch hoặc vượt định mức lương quy định.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2. Sổ quản lý Suất tuyển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Cấp Suất tự động: </a:t>
            </a:r>
            <a:r>
              <a:rPr>
                <a:solidFill>
                  <a:srgbClr val="F8FAFC"/>
                </a:solidFill>
              </a:rPr>
              <a:t>Khi yêu cầu được duyệt, tự động sinh các bản ghi suất tuyển sẵn có.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Ràng buộc nghiêm ngặt: </a:t>
            </a:r>
            <a:r>
              <a:rPr>
                <a:solidFill>
                  <a:srgbClr val="F8FAFC"/>
                </a:solidFill>
              </a:rPr>
              <a:t>Mọi đợt gửi Offer đều phải gắn với 1 suất tuyển cụ thể.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Chống tuyển vượt: </a:t>
            </a:r>
            <a:r>
              <a:rPr>
                <a:solidFill>
                  <a:srgbClr val="F8FAFC"/>
                </a:solidFill>
              </a:rPr>
              <a:t>Không bao giờ xảy ra tình trạng ứng viên đồng ý nhưng báo hết chỉ tiêu.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73736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3. Đóng băng Tiêu chí AI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Mở tin công khai: </a:t>
            </a:r>
            <a:r>
              <a:rPr>
                <a:solidFill>
                  <a:srgbClr val="F8FAFC"/>
                </a:solidFill>
              </a:rPr>
              <a:t>Nhân sự tạo Tin tuyển dụng &amp; xác nhận bộ tiêu chí chấm và Cấu hình AI.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Phiên bản bất biến: </a:t>
            </a:r>
            <a:r>
              <a:rPr>
                <a:solidFill>
                  <a:srgbClr val="F8FAFC"/>
                </a:solidFill>
              </a:rPr>
              <a:t>Khóa cặp phiên bản (Tiêu chí, Cấu hình AI) bất biến khi đăng tin.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Đánh giá lại an toàn: </a:t>
            </a:r>
            <a:r>
              <a:rPr>
                <a:solidFill>
                  <a:srgbClr val="F8FAFC"/>
                </a:solidFill>
              </a:rPr>
              <a:t>Khi sửa tiêu chí, chỉ tính toán lại cho các hồ sơ đang ở khâu đánh giá.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AI Phân tích, Sàng lọc &amp; Chấm CV theo Bằng chứng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Bảo mật tải lên, Trích xuất PDF, AI Gemini chấm Điểm phù hợp &amp; Cảnh báo bất thường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Quy trình Xử lý CV &amp; AI Gemini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Nộp Form trực tuyến: </a:t>
            </a:r>
            <a:r>
              <a:rPr>
                <a:solidFill>
                  <a:srgbClr val="F8FAFC"/>
                </a:solidFill>
              </a:rPr>
              <a:t>Ứng viên nộp CV trực tuyến (PDF/Word). Tuyệt đối KHÔNG thu thập CCCD ở bước này.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Kiểm tra An toàn File: </a:t>
            </a:r>
            <a:r>
              <a:rPr>
                <a:solidFill>
                  <a:srgbClr val="F8FAFC"/>
                </a:solidFill>
              </a:rPr>
              <a:t>Xác minh định dạng thực tế, dung lượng, số trang, chặn mã độc và file mã hóa.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Trích xuất văn bản: </a:t>
            </a:r>
            <a:r>
              <a:rPr>
                <a:solidFill>
                  <a:srgbClr val="F8FAFC"/>
                </a:solidFill>
              </a:rPr>
              <a:t>Trích xuất chuẩn xác toàn bộ nội dung văn bản thô từ tệp CV.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AI Phân tích dữ liệu: </a:t>
            </a:r>
            <a:r>
              <a:rPr>
                <a:solidFill>
                  <a:srgbClr val="F8FAFC"/>
                </a:solidFill>
              </a:rPr>
              <a:t>Phân tích cấu trúc: Học vấn, Kinh nghiệm, Kỹ năng &amp; Thành tựu thực tế.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Điểm Phù hợp theo Bằng chứng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Chấm điểm Bằng chứng: </a:t>
            </a:r>
            <a:r>
              <a:rPr>
                <a:solidFill>
                  <a:srgbClr val="F8FAFC"/>
                </a:solidFill>
              </a:rPr>
              <a:t>Chấm theo BẰNG CHỨNG thực tế thay vì từ khóa suông. Phân biệt Khai báo vs Thực chứng.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Cảnh báo Gian lận AI: </a:t>
            </a:r>
            <a:r>
              <a:rPr>
                <a:solidFill>
                  <a:srgbClr val="F8FAFC"/>
                </a:solidFill>
              </a:rPr>
              <a:t>Phát hiện &amp; cảnh báo ứng viên sao chép nguyên văn mô tả công việc (JD).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Gợi ý Hỏi phỏng vấn: </a:t>
            </a:r>
            <a:r>
              <a:rPr>
                <a:solidFill>
                  <a:srgbClr val="F8FAFC"/>
                </a:solidFill>
              </a:rPr>
              <a:t>AI tự động sinh danh sách câu hỏi phỏng vấn xoáy vào các điểm cần xác minh.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Nguyên tắc bất biến: </a:t>
            </a:r>
            <a:r>
              <a:rPr>
                <a:solidFill>
                  <a:srgbClr val="F8FAFC"/>
                </a:solidFill>
              </a:rPr>
              <a:t>AI chỉ gợi ý. Nhân sự &amp; Phòng chuyên môn luôn giữ quyền quyết định cuối cùng!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Phỏng vấn có kiểm soát &amp; Phê duyệt Offer an toàn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Quy trình phỏng vấn 2 vòng, Duyệt Offer nội bộ và Cơ chế Giữ suất tuyển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Quy trình Phỏng vấn 2 Vòng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Duyệt CV 2 cấp: </a:t>
            </a:r>
            <a:r>
              <a:rPr>
                <a:solidFill>
                  <a:srgbClr val="F8FAFC"/>
                </a:solidFill>
              </a:rPr>
              <a:t>Nhân sự duyệt sơ bộ → Phòng chuyên môn duyệt đánh giá chi tiết.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Phỏng vấn Vòng 1: </a:t>
            </a:r>
            <a:r>
              <a:rPr>
                <a:solidFill>
                  <a:srgbClr val="F8FAFC"/>
                </a:solidFill>
              </a:rPr>
              <a:t>Đánh giá năng lực chuyên môn thực hành &amp; tư duy giải quyết bài toán.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Phỏng vấn Vòng 2: </a:t>
            </a:r>
            <a:r>
              <a:rPr>
                <a:solidFill>
                  <a:srgbClr val="F8FAFC"/>
                </a:solidFill>
              </a:rPr>
              <a:t>Đánh giá sự phù hợp văn hóa &amp; định hướng phát triển cùng Quản lý/Nhân sự.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Hỗ trợ Trả về: </a:t>
            </a:r>
            <a:r>
              <a:rPr>
                <a:solidFill>
                  <a:srgbClr val="F8FAFC"/>
                </a:solidFill>
              </a:rPr>
              <a:t>Cho phép trả hồ sơ về bước trước kèm lý do nếu cần đánh giá lại.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Tạo &amp; Phê duyệt Offer An toàn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Tách biệt Điều khoản &amp; Lần gửi: </a:t>
            </a:r>
            <a:r>
              <a:rPr>
                <a:solidFill>
                  <a:srgbClr val="F8FAFC"/>
                </a:solidFill>
              </a:rPr>
              <a:t>Tách điều khoản Offer (bất biến) và Lần gửi thực tế (mã bảo mật, hạn chót).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Phê duyệt Nội bộ: </a:t>
            </a:r>
            <a:r>
              <a:rPr>
                <a:solidFill>
                  <a:srgbClr val="F8FAFC"/>
                </a:solidFill>
              </a:rPr>
              <a:t>Duyệt theo ngân sách. Cảnh báo cờ vượt khung lương Yêu cầu tuyển dụng.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Giữ Suất tuyển an toàn: </a:t>
            </a:r>
            <a:r>
              <a:rPr>
                <a:solidFill>
                  <a:srgbClr val="F8FAFC"/>
                </a:solidFill>
              </a:rPr>
              <a:t>Ngay khi gửi Offer: Suất tuyển chuyển từ Sẵn có → Đã giữ chỗ.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Liên kết Bảo mật: </a:t>
            </a:r>
            <a:r>
              <a:rPr>
                <a:solidFill>
                  <a:srgbClr val="F8FAFC"/>
                </a:solidFill>
              </a:rPr>
              <a:t>Ứng viên nhận liên kết bảo mật để bấm Chấp nhận, Từ chối hoặc Thương lượng.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Từ Offer Chấp nhận đến Nhân viên Chính thức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Cầu nối dữ liệu an toàn, Giai đoạn Chuẩn bị tiếp nhận, Cấp tài khoản và Đi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Cầu nối Dữ liệu &amp; Chuẩn bị Tiếp nhận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Sự kiện Ứng viên Đồng ý: </a:t>
            </a:r>
            <a:r>
              <a:rPr>
                <a:solidFill>
                  <a:srgbClr val="F8FAFC"/>
                </a:solidFill>
              </a:rPr>
              <a:t>Ứng viên bấm chấp nhận offer → Kích hoạt sự kiện dữ liệu an toàn chống trùng.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Tạo Hồ sơ Tiếp nhận: </a:t>
            </a:r>
            <a:r>
              <a:rPr>
                <a:solidFill>
                  <a:srgbClr val="F8FAFC"/>
                </a:solidFill>
              </a:rPr>
              <a:t>Khởi tạo Hồ sơ cá nhân &amp; Hồ sơ nhân viên ở trạng thái Chuẩn bị tiếp nhận.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Danh mục Hồ sơ: </a:t>
            </a:r>
            <a:r>
              <a:rPr>
                <a:solidFill>
                  <a:srgbClr val="F8FAFC"/>
                </a:solidFill>
              </a:rPr>
              <a:t>Tự động sinh danh mục tiếp nhận: Thu thập CCCD, Bằng cấp, Ngân hàng.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Hợp đồng &amp; Lương ban đầu: </a:t>
            </a:r>
            <a:r>
              <a:rPr>
                <a:solidFill>
                  <a:srgbClr val="F8FAFC"/>
                </a:solidFill>
              </a:rPr>
              <a:t>Tạo bản ghi hợp đồng &amp; bản ghi lương ban đầu ở trạng thái Chờ hiệu lực.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Tài khoản Chưa kích hoạt &amp; Xác nhận Đi làm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Tài khoản An toàn: </a:t>
            </a:r>
            <a:r>
              <a:rPr>
                <a:solidFill>
                  <a:srgbClr val="F8FAFC"/>
                </a:solidFill>
              </a:rPr>
              <a:t>Gửi yêu cầu cấp tài khoản. Tạo trước ngày đi làm ở trạng thái Chưa kích hoạt.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Xác nhận Đi làm: </a:t>
            </a:r>
            <a:r>
              <a:rPr>
                <a:solidFill>
                  <a:srgbClr val="F8FAFC"/>
                </a:solidFill>
              </a:rPr>
              <a:t>Vào ngày nhận việc, Nhân sự bấm 'Xác nhận đã đi làm' trên hệ thống.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Kích hoạt Đồng bộ: </a:t>
            </a:r>
            <a:r>
              <a:rPr>
                <a:solidFill>
                  <a:srgbClr val="F8FAFC"/>
                </a:solidFill>
              </a:rPr>
              <a:t>Hồ sơ chuyển Chính thức, Suất tuyển hoàn tất, Tài khoản chuyển Đã kích hoạt.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Hủy nhận việc: </a:t>
            </a:r>
            <a:r>
              <a:rPr>
                <a:solidFill>
                  <a:srgbClr val="F8FAFC"/>
                </a:solidFill>
              </a:rPr>
              <a:t>Nếu ứng viên không đến → Hủy tiếp nhận, hủy tài khoản &amp; nhả lại Suất tuyển sẵn có.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Telegram HRM AI Bot: Điều hành &amp; Phê duyệt Tức thì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Trợ lý thông minh dành cho CEO &amp; Giám đốc — Tra cứu dữ liệu thời gian thực và Phê duyệt nhanh 24/7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Bộ Lệnh Tra cứu &amp; Duyệt nhanh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/dashboard: </a:t>
            </a:r>
            <a:r>
              <a:rPr>
                <a:solidFill>
                  <a:srgbClr val="F8FAFC"/>
                </a:solidFill>
              </a:rPr>
              <a:t>Xem tổng quan chỉ số nhân sự toàn công ty thời gian thực.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/nhanvien &amp; /tuyendung: </a:t>
            </a:r>
            <a:r>
              <a:rPr>
                <a:solidFill>
                  <a:srgbClr val="F8FAFC"/>
                </a:solidFill>
              </a:rPr>
              <a:t>Thống kê quy mô nhân sự, phòng ban &amp; đợt tuyển dụng.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/chamcong &amp; /luong: </a:t>
            </a:r>
            <a:r>
              <a:rPr>
                <a:solidFill>
                  <a:srgbClr val="F8FAFC"/>
                </a:solidFill>
              </a:rPr>
              <a:t>Kiểm tra tình hình đi làm trong ngày &amp; tổng chi phí lương.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/duyet &amp; /tuchoi: </a:t>
            </a:r>
            <a:r>
              <a:rPr>
                <a:solidFill>
                  <a:srgbClr val="F8FAFC"/>
                </a:solidFill>
              </a:rPr>
              <a:t>Duyệt hoặc từ chối yêu cầu tuyển dụng, offer theo ID tức thì.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Hỏi đáp Tiếng Việt &amp; Cơ chế Dự phòng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Truy vấn Tự nhiên: </a:t>
            </a:r>
            <a:r>
              <a:rPr>
                <a:solidFill>
                  <a:srgbClr val="F8FAFC"/>
                </a:solidFill>
              </a:rPr>
              <a:t>Hỏi câu tiếng Việt: 'Hiện công ty có bao nhiêu nhân viên?', 'Hôm nay ai đi muộn?'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AI Phân tích Ý định: </a:t>
            </a:r>
            <a:r>
              <a:rPr>
                <a:solidFill>
                  <a:srgbClr val="F8FAFC"/>
                </a:solidFill>
              </a:rPr>
              <a:t>AI Gemini phân tích ý định câu hỏi → gọi dữ liệu thực tế hệ thống trả về.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Cơ chế Dự phòng: </a:t>
            </a:r>
            <a:r>
              <a:rPr>
                <a:solidFill>
                  <a:srgbClr val="F8FAFC"/>
                </a:solidFill>
              </a:rPr>
              <a:t>Nếu ngắt kết nối AI, Bot tự chuyển sang nhận diện Từ khóa phục vụ liên tục.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Bảo mật Phân quyền: </a:t>
            </a:r>
            <a:r>
              <a:rPr>
                <a:solidFill>
                  <a:srgbClr val="F8FAFC"/>
                </a:solidFill>
              </a:rPr>
              <a:t>Bot xác thực theo Mã trò chuyện và Số điện thoại chỉ dành cho Lãnh đạo được cấp quyền.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Kiến trúc Công nghệ &amp; Cấu hình Động (Không hardcode)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Hệ thống chuẩn Doanh nghiệp: React 19, Spring Boot, MySQL Flyway, Outbox Pattern &amp; Dynamic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Kiến trúc Đa tầng Hiện đại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Giao diện Modern: </a:t>
            </a:r>
            <a:r>
              <a:rPr>
                <a:solidFill>
                  <a:srgbClr val="F8FAFC"/>
                </a:solidFill>
              </a:rPr>
              <a:t>React 19 + Vite + Tailwind CSS + Biểu đồ Recharts + WebSocket thông báo thời gian thực.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Backend Chuẩn Doanh nghiệp: </a:t>
            </a:r>
            <a:r>
              <a:rPr>
                <a:solidFill>
                  <a:srgbClr val="F8FAFC"/>
                </a:solidFill>
              </a:rPr>
              <a:t>Java 17 + Spring Boot + Spring Security + Mô hình Phê duyệt Đa cấp.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Lưu trữ &amp; Sự kiện: </a:t>
            </a:r>
            <a:r>
              <a:rPr>
                <a:solidFill>
                  <a:srgbClr val="F8FAFC"/>
                </a:solidFill>
              </a:rPr>
              <a:t>MySQL + Flyway quản lý phiên bản cơ sở dữ liệu + Outbox Event có tự động xử lý lại.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AI &amp; Xử lý File: </a:t>
            </a:r>
            <a:r>
              <a:rPr>
                <a:solidFill>
                  <a:srgbClr val="F8FAFC"/>
                </a:solidFill>
              </a:rPr>
              <a:t>Google Gemini API + Trích xuất văn bản tệp PDF chuyên dụng.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Cấu hình Động (Không gán cứng trong code)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Quản lý Tham số ở Database: </a:t>
            </a:r>
            <a:r>
              <a:rPr>
                <a:solidFill>
                  <a:srgbClr val="F8FAFC"/>
                </a:solidFill>
              </a:rPr>
              <a:t>Toàn bộ hệ số điểm AI, ngưỡng cảnh báo, ma trận duyệt lưu ở Database.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Thay đổi tức thì: </a:t>
            </a:r>
            <a:r>
              <a:rPr>
                <a:solidFill>
                  <a:srgbClr val="F8FAFC"/>
                </a:solidFill>
              </a:rPr>
              <a:t>Quản trị viên sửa hệ số điểm AI, thời hạn xử lý trên UI → Đổi ngay không re-deploy.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Phiên bản Bất biến: </a:t>
            </a:r>
            <a:r>
              <a:rPr>
                <a:solidFill>
                  <a:srgbClr val="F8FAFC"/>
                </a:solidFill>
              </a:rPr>
              <a:t>Cấu hình chấm điểm AI được lưu phiên bản bất biến, đảm bảo tính nhất quán kiểm toán.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Bảo mật &amp; Phân quyền: </a:t>
            </a:r>
            <a:r>
              <a:rPr>
                <a:solidFill>
                  <a:srgbClr val="F8FAFC"/>
                </a:solidFill>
              </a:rPr>
              <a:t>Phân quyền theo vai trò chi tiết, Nhật ký kiểm toán lưu vết mọi thao tác.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Giá trị Doanh nghiệp &amp; Kịch bản Demo 3-5 Phút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Tối ưu vận hành nhân sự toàn diện và Kịch bản trình diễn trực quan tính năng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Giá trị mang lại cho Doanh nghiệp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Nhân sự (HR): </a:t>
            </a:r>
            <a:r>
              <a:rPr>
                <a:solidFill>
                  <a:srgbClr val="F8FAFC"/>
                </a:solidFill>
              </a:rPr>
              <a:t>Tự động hóa 80% thao tác đọc/nhập CV, loại bỏ bỏ sót hồ sơ, quản lý luồng tập trung.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Quản lý: </a:t>
            </a:r>
            <a:r>
              <a:rPr>
                <a:solidFill>
                  <a:srgbClr val="F8FAFC"/>
                </a:solidFill>
              </a:rPr>
              <a:t>Đánh giá ứng viên theo tiêu chí đồng nhất, nắm chính xác tiến độ từng hồ sơ.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Lãnh đạo: </a:t>
            </a:r>
            <a:r>
              <a:rPr>
                <a:solidFill>
                  <a:srgbClr val="F8FAFC"/>
                </a:solidFill>
              </a:rPr>
              <a:t>Kiểm soát ngân sách &amp; chỉ tiêu (Sổ suất tuyển), tra cứu &amp; phê duyệt 24/7 qua Telegram.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Toàn vẹn Dữ liệu: </a:t>
            </a:r>
            <a:r>
              <a:rPr>
                <a:solidFill>
                  <a:srgbClr val="F8FAFC"/>
                </a:solidFill>
              </a:rPr>
              <a:t>Nối liền mạch Tuyển dụng → Nhân viên, lưu vết Nhật ký kiểm toán đầy đủ.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Kịch bản Trình diễn Thực tế (3 - 5 Phút)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B1. Đăng tin &amp; Danh sách CV: </a:t>
            </a:r>
            <a:r>
              <a:rPr>
                <a:solidFill>
                  <a:srgbClr val="F8FAFC"/>
                </a:solidFill>
              </a:rPr>
              <a:t>Mở Tin tuyển dụng đang mở &amp; danh sách ứng viên nộp CV.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B2. Chi tiết AI Chấm bằng chứng: </a:t>
            </a:r>
            <a:r>
              <a:rPr>
                <a:solidFill>
                  <a:srgbClr val="F8FAFC"/>
                </a:solidFill>
              </a:rPr>
              <a:t>Xem Điểm phù hợp (chấm bằng chứng), Cảnh báo gian lận &amp; Gợi ý hỏi phỏng vấn.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B3. Offer &amp; Giữ Suất tuyển: </a:t>
            </a:r>
            <a:r>
              <a:rPr>
                <a:solidFill>
                  <a:srgbClr val="F8FAFC"/>
                </a:solidFill>
              </a:rPr>
              <a:t>Chuyển phỏng vấn → Duyệt Offer → Suất tuyển chuyển trạng thái Đã giữ chỗ.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B4. Đồng ý &amp; Đi làm: </a:t>
            </a:r>
            <a:r>
              <a:rPr>
                <a:solidFill>
                  <a:srgbClr val="F8FAFC"/>
                </a:solidFill>
              </a:rPr>
              <a:t>Ứng viên bấm Đồng ý → Hồ sơ vào Tiếp nhận → Nhân sự bấm Đi làm → Tài khoản Đã kích hoạt.</a:t>
            </a:r>
          </a:p>
          <a:p>
            <a:pPr>
              <a:spcBef>
                <a:spcPts val="1400"/>
              </a:spcBef>
              <a:defRPr sz="135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B5. Telegram Live Query: </a:t>
            </a:r>
            <a:r>
              <a:rPr>
                <a:solidFill>
                  <a:srgbClr val="F8FAFC"/>
                </a:solidFill>
              </a:rPr>
              <a:t>Mở Telegram hỏi 'Đang tuyển bao nhiêu vị trí?' &amp; gõ /dashboard kết thúc.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